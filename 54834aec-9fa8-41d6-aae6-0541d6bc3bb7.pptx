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Arial" panose="020B0604020202020204" pitchFamily="34" charset="0"/>
      <p:regular r:id="rId10"/>
    </p:embeddedFont>
    <p:embeddedFont>
      <p:font typeface="Barlow" pitchFamily="2" charset="0"/>
      <p:regular r:id="rId11"/>
    </p:embeddedFont>
    <p:embeddedFont>
      <p:font typeface="Barlow Bold" pitchFamily="2" charset="0"/>
      <p:regular r:id="rId12"/>
    </p:embeddedFont>
    <p:embeddedFont>
      <p:font typeface="Open Sans Bold" panose="020B0806030504020204" pitchFamily="34" charset="0"/>
      <p:regular r:id="rId13"/>
    </p:embeddedFont>
    <p:embeddedFont>
      <p:font typeface="Playpen Sans Bold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font" Target="fonts/font4.fntdata" /><Relationship Id="rId1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font" Target="fonts/font3.fntdata" /><Relationship Id="rId17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font" Target="fonts/font2.fntdata" /><Relationship Id="rId5" Type="http://schemas.openxmlformats.org/officeDocument/2006/relationships/slide" Target="slides/slide4.xml" /><Relationship Id="rId15" Type="http://schemas.openxmlformats.org/officeDocument/2006/relationships/presProps" Target="presProps.xml" /><Relationship Id="rId10" Type="http://schemas.openxmlformats.org/officeDocument/2006/relationships/font" Target="fonts/font1.fntdata" /><Relationship Id="rId4" Type="http://schemas.openxmlformats.org/officeDocument/2006/relationships/slide" Target="slides/slide3.xml" /><Relationship Id="rId9" Type="http://schemas.openxmlformats.org/officeDocument/2006/relationships/notesMaster" Target="notesMasters/notesMaster1.xml" /><Relationship Id="rId14" Type="http://schemas.openxmlformats.org/officeDocument/2006/relationships/font" Target="fonts/font5.fntdata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08.10.2026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4.png" /><Relationship Id="rId4" Type="http://schemas.openxmlformats.org/officeDocument/2006/relationships/image" Target="../media/image3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7" Type="http://schemas.openxmlformats.org/officeDocument/2006/relationships/image" Target="../media/image4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3.png" /><Relationship Id="rId5" Type="http://schemas.openxmlformats.org/officeDocument/2006/relationships/image" Target="../media/image2.png" /><Relationship Id="rId4" Type="http://schemas.openxmlformats.org/officeDocument/2006/relationships/image" Target="../media/image5.jpe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7" Type="http://schemas.openxmlformats.org/officeDocument/2006/relationships/image" Target="../media/image4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3.png" /><Relationship Id="rId5" Type="http://schemas.openxmlformats.org/officeDocument/2006/relationships/image" Target="../media/image2.png" /><Relationship Id="rId4" Type="http://schemas.openxmlformats.org/officeDocument/2006/relationships/image" Target="../media/image5.jpe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7" Type="http://schemas.openxmlformats.org/officeDocument/2006/relationships/image" Target="../media/image4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3.png" /><Relationship Id="rId5" Type="http://schemas.openxmlformats.org/officeDocument/2006/relationships/image" Target="../media/image2.png" /><Relationship Id="rId4" Type="http://schemas.openxmlformats.org/officeDocument/2006/relationships/image" Target="../media/image5.jpe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7" Type="http://schemas.openxmlformats.org/officeDocument/2006/relationships/image" Target="../media/image4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3.png" /><Relationship Id="rId5" Type="http://schemas.openxmlformats.org/officeDocument/2006/relationships/image" Target="../media/image2.png" /><Relationship Id="rId4" Type="http://schemas.openxmlformats.org/officeDocument/2006/relationships/image" Target="../media/image5.jpe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7" Type="http://schemas.openxmlformats.org/officeDocument/2006/relationships/image" Target="../media/image4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3.png" /><Relationship Id="rId5" Type="http://schemas.openxmlformats.org/officeDocument/2006/relationships/image" Target="../media/image2.png" /><Relationship Id="rId4" Type="http://schemas.openxmlformats.org/officeDocument/2006/relationships/image" Target="../media/image5.jpe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7" Type="http://schemas.openxmlformats.org/officeDocument/2006/relationships/image" Target="../media/image4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3.png" /><Relationship Id="rId5" Type="http://schemas.openxmlformats.org/officeDocument/2006/relationships/image" Target="../media/image2.png" /><Relationship Id="rId4" Type="http://schemas.openxmlformats.org/officeDocument/2006/relationships/image" Target="../media/image5.jpe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25977" y="10189883"/>
            <a:ext cx="19139954" cy="389671"/>
            <a:chOff x="0" y="0"/>
            <a:chExt cx="5040976" cy="10262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040976" cy="102629"/>
            </a:xfrm>
            <a:custGeom>
              <a:avLst/>
              <a:gdLst/>
              <a:ahLst/>
              <a:cxnLst/>
              <a:rect l="l" t="t" r="r" b="b"/>
              <a:pathLst>
                <a:path w="5040976" h="102629">
                  <a:moveTo>
                    <a:pt x="0" y="0"/>
                  </a:moveTo>
                  <a:lnTo>
                    <a:pt x="5040976" y="0"/>
                  </a:lnTo>
                  <a:lnTo>
                    <a:pt x="5040976" y="102629"/>
                  </a:lnTo>
                  <a:lnTo>
                    <a:pt x="0" y="102629"/>
                  </a:lnTo>
                  <a:close/>
                </a:path>
              </a:pathLst>
            </a:custGeom>
            <a:gradFill rotWithShape="1">
              <a:gsLst>
                <a:gs pos="0">
                  <a:srgbClr val="2A0C69">
                    <a:alpha val="100000"/>
                  </a:srgbClr>
                </a:gs>
                <a:gs pos="100000">
                  <a:srgbClr val="3F1D8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040976" cy="1407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56302" y="437131"/>
            <a:ext cx="17117301" cy="2163535"/>
            <a:chOff x="0" y="0"/>
            <a:chExt cx="22823068" cy="288471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30006" cy="2519699"/>
            </a:xfrm>
            <a:custGeom>
              <a:avLst/>
              <a:gdLst/>
              <a:ahLst/>
              <a:cxnLst/>
              <a:rect l="l" t="t" r="r" b="b"/>
              <a:pathLst>
                <a:path w="2530006" h="2519699">
                  <a:moveTo>
                    <a:pt x="0" y="0"/>
                  </a:moveTo>
                  <a:lnTo>
                    <a:pt x="2530006" y="0"/>
                  </a:lnTo>
                  <a:lnTo>
                    <a:pt x="2530006" y="2519699"/>
                  </a:lnTo>
                  <a:lnTo>
                    <a:pt x="0" y="2519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04" b="-204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0371937" y="175722"/>
              <a:ext cx="2451131" cy="2451131"/>
            </a:xfrm>
            <a:custGeom>
              <a:avLst/>
              <a:gdLst/>
              <a:ahLst/>
              <a:cxnLst/>
              <a:rect l="l" t="t" r="r" b="b"/>
              <a:pathLst>
                <a:path w="2451131" h="2451131">
                  <a:moveTo>
                    <a:pt x="0" y="0"/>
                  </a:moveTo>
                  <a:lnTo>
                    <a:pt x="2451131" y="0"/>
                  </a:lnTo>
                  <a:lnTo>
                    <a:pt x="2451131" y="2451131"/>
                  </a:lnTo>
                  <a:lnTo>
                    <a:pt x="0" y="2451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7863505" y="175722"/>
              <a:ext cx="6993093" cy="2708992"/>
            </a:xfrm>
            <a:custGeom>
              <a:avLst/>
              <a:gdLst/>
              <a:ahLst/>
              <a:cxnLst/>
              <a:rect l="l" t="t" r="r" b="b"/>
              <a:pathLst>
                <a:path w="6993093" h="2708992">
                  <a:moveTo>
                    <a:pt x="0" y="0"/>
                  </a:moveTo>
                  <a:lnTo>
                    <a:pt x="6993093" y="0"/>
                  </a:lnTo>
                  <a:lnTo>
                    <a:pt x="6993093" y="2708992"/>
                  </a:lnTo>
                  <a:lnTo>
                    <a:pt x="0" y="2708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95430" b="-96945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8316584" y="8852905"/>
            <a:ext cx="1519513" cy="355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58"/>
              </a:lnSpc>
            </a:pPr>
            <a:r>
              <a:rPr lang="en-US" sz="2113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4122790"/>
            <a:ext cx="12744247" cy="4768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6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Team Name:</a:t>
            </a:r>
          </a:p>
          <a:p>
            <a:pPr algn="l">
              <a:lnSpc>
                <a:spcPts val="5400"/>
              </a:lnSpc>
            </a:pPr>
            <a:r>
              <a:rPr lang="en-US" sz="36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Project / Idea Title:</a:t>
            </a:r>
          </a:p>
          <a:p>
            <a:pPr algn="l">
              <a:lnSpc>
                <a:spcPts val="5400"/>
              </a:lnSpc>
            </a:pPr>
            <a:r>
              <a:rPr lang="en-US" sz="36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Track: </a:t>
            </a:r>
          </a:p>
          <a:p>
            <a:pPr algn="l">
              <a:lnSpc>
                <a:spcPts val="5400"/>
              </a:lnSpc>
            </a:pPr>
            <a:r>
              <a:rPr lang="en-US" sz="36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Team Member 1 (Lead Name):</a:t>
            </a:r>
          </a:p>
          <a:p>
            <a:pPr algn="l">
              <a:lnSpc>
                <a:spcPts val="5400"/>
              </a:lnSpc>
            </a:pPr>
            <a:r>
              <a:rPr lang="en-US" sz="36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Team Member 2 Name:</a:t>
            </a:r>
          </a:p>
          <a:p>
            <a:pPr algn="l">
              <a:lnSpc>
                <a:spcPts val="5400"/>
              </a:lnSpc>
            </a:pPr>
            <a:r>
              <a:rPr lang="en-US" sz="36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Team Member 3 Name:</a:t>
            </a:r>
          </a:p>
          <a:p>
            <a:pPr algn="l">
              <a:lnSpc>
                <a:spcPts val="5400"/>
              </a:lnSpc>
            </a:pPr>
            <a:r>
              <a:rPr lang="en-US" sz="36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Team Member 4 Name: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22960" y="9601200"/>
            <a:ext cx="8229600" cy="411480"/>
            <a:chOff x="0" y="0"/>
            <a:chExt cx="10972800" cy="5486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972800" cy="548640"/>
            </a:xfrm>
            <a:custGeom>
              <a:avLst/>
              <a:gdLst/>
              <a:ahLst/>
              <a:cxnLst/>
              <a:rect l="l" t="t" r="r" b="b"/>
              <a:pathLst>
                <a:path w="10972800" h="54864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1097280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spc="450">
                  <a:solidFill>
                    <a:srgbClr val="8E86A8"/>
                  </a:solidFill>
                  <a:latin typeface="Arial"/>
                  <a:ea typeface="Arial"/>
                  <a:cs typeface="Arial"/>
                  <a:sym typeface="Arial"/>
                </a:rPr>
                <a:t>COLOSSUS 3.0  ·  IDEA SUBMISSION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940" y="3206266"/>
            <a:ext cx="16596360" cy="4908587"/>
            <a:chOff x="0" y="0"/>
            <a:chExt cx="22128480" cy="6544783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22128480" cy="1463040"/>
              <a:chOff x="0" y="0"/>
              <a:chExt cx="22128480" cy="14630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2128480" cy="1463040"/>
              </a:xfrm>
              <a:custGeom>
                <a:avLst/>
                <a:gdLst/>
                <a:ahLst/>
                <a:cxnLst/>
                <a:rect l="l" t="t" r="r" b="b"/>
                <a:pathLst>
                  <a:path w="22128480" h="1463040">
                    <a:moveTo>
                      <a:pt x="0" y="0"/>
                    </a:moveTo>
                    <a:lnTo>
                      <a:pt x="22128480" y="0"/>
                    </a:lnTo>
                    <a:lnTo>
                      <a:pt x="22128480" y="1463040"/>
                    </a:lnTo>
                    <a:lnTo>
                      <a:pt x="0" y="146304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t="-244711" b="-244711"/>
                </a:stretch>
              </a:blip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0"/>
                <a:ext cx="22128480" cy="146304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6120"/>
                  </a:lnSpc>
                </a:pPr>
                <a:r>
                  <a:rPr lang="en-US" sz="5100">
                    <a:solidFill>
                      <a:srgbClr val="FFFFFF"/>
                    </a:solidFill>
                    <a:latin typeface="Barlow"/>
                    <a:ea typeface="Barlow"/>
                    <a:cs typeface="Barlow"/>
                    <a:sym typeface="Barlow"/>
                  </a:rPr>
                  <a:t>The Problem - Why Does It Matter?</a:t>
                </a:r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426720" y="2222110"/>
              <a:ext cx="13696623" cy="469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89"/>
                </a:lnSpc>
              </a:pPr>
              <a:r>
                <a:rPr lang="en-US" sz="2324" spc="387">
                  <a:solidFill>
                    <a:srgbClr val="FF2E93"/>
                  </a:solidFill>
                  <a:latin typeface="Barlow"/>
                  <a:ea typeface="Barlow"/>
                  <a:cs typeface="Barlow"/>
                  <a:sym typeface="Barlow"/>
                </a:rPr>
                <a:t>01  </a:t>
              </a:r>
              <a:r>
                <a:rPr lang="en-US" sz="2324" spc="387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PROBLEM STATEMENT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26720" y="3567072"/>
              <a:ext cx="11807434" cy="469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89"/>
                </a:lnSpc>
              </a:pPr>
              <a:r>
                <a:rPr lang="en-US" sz="2324" spc="387">
                  <a:solidFill>
                    <a:srgbClr val="00E5FF"/>
                  </a:solidFill>
                  <a:latin typeface="Barlow"/>
                  <a:ea typeface="Barlow"/>
                  <a:cs typeface="Barlow"/>
                  <a:sym typeface="Barlow"/>
                </a:rPr>
                <a:t>02  </a:t>
              </a:r>
              <a:r>
                <a:rPr lang="en-US" sz="2324" spc="387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WHO IS AFFECTED?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26720" y="4949015"/>
              <a:ext cx="11807434" cy="469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89"/>
                </a:lnSpc>
              </a:pPr>
              <a:r>
                <a:rPr lang="en-US" sz="2324" spc="387">
                  <a:solidFill>
                    <a:srgbClr val="B026FF"/>
                  </a:solidFill>
                  <a:latin typeface="Barlow"/>
                  <a:ea typeface="Barlow"/>
                  <a:cs typeface="Barlow"/>
                  <a:sym typeface="Barlow"/>
                </a:rPr>
                <a:t>03  </a:t>
              </a:r>
              <a:r>
                <a:rPr lang="en-US" sz="2324" spc="387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CURRENT PAIN POINTS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26720" y="6074883"/>
              <a:ext cx="9445947" cy="469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8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56302" y="437131"/>
            <a:ext cx="17117301" cy="2163535"/>
            <a:chOff x="0" y="0"/>
            <a:chExt cx="22823068" cy="288471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530006" cy="2519699"/>
            </a:xfrm>
            <a:custGeom>
              <a:avLst/>
              <a:gdLst/>
              <a:ahLst/>
              <a:cxnLst/>
              <a:rect l="l" t="t" r="r" b="b"/>
              <a:pathLst>
                <a:path w="2530006" h="2519699">
                  <a:moveTo>
                    <a:pt x="0" y="0"/>
                  </a:moveTo>
                  <a:lnTo>
                    <a:pt x="2530006" y="0"/>
                  </a:lnTo>
                  <a:lnTo>
                    <a:pt x="2530006" y="2519699"/>
                  </a:lnTo>
                  <a:lnTo>
                    <a:pt x="0" y="2519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04" b="-204"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20371937" y="175722"/>
              <a:ext cx="2451131" cy="2451131"/>
            </a:xfrm>
            <a:custGeom>
              <a:avLst/>
              <a:gdLst/>
              <a:ahLst/>
              <a:cxnLst/>
              <a:rect l="l" t="t" r="r" b="b"/>
              <a:pathLst>
                <a:path w="2451131" h="2451131">
                  <a:moveTo>
                    <a:pt x="0" y="0"/>
                  </a:moveTo>
                  <a:lnTo>
                    <a:pt x="2451131" y="0"/>
                  </a:lnTo>
                  <a:lnTo>
                    <a:pt x="2451131" y="2451131"/>
                  </a:lnTo>
                  <a:lnTo>
                    <a:pt x="0" y="2451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7863505" y="175722"/>
              <a:ext cx="6993093" cy="2708992"/>
            </a:xfrm>
            <a:custGeom>
              <a:avLst/>
              <a:gdLst/>
              <a:ahLst/>
              <a:cxnLst/>
              <a:rect l="l" t="t" r="r" b="b"/>
              <a:pathLst>
                <a:path w="6993093" h="2708992">
                  <a:moveTo>
                    <a:pt x="0" y="0"/>
                  </a:moveTo>
                  <a:lnTo>
                    <a:pt x="6993093" y="0"/>
                  </a:lnTo>
                  <a:lnTo>
                    <a:pt x="6993093" y="2708992"/>
                  </a:lnTo>
                  <a:lnTo>
                    <a:pt x="0" y="2708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95430" b="-96945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22960" y="9601200"/>
            <a:ext cx="8229600" cy="411480"/>
            <a:chOff x="0" y="0"/>
            <a:chExt cx="10972800" cy="5486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972800" cy="548640"/>
            </a:xfrm>
            <a:custGeom>
              <a:avLst/>
              <a:gdLst/>
              <a:ahLst/>
              <a:cxnLst/>
              <a:rect l="l" t="t" r="r" b="b"/>
              <a:pathLst>
                <a:path w="10972800" h="54864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1097280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spc="450">
                  <a:solidFill>
                    <a:srgbClr val="8E86A8"/>
                  </a:solidFill>
                  <a:latin typeface="Arial"/>
                  <a:ea typeface="Arial"/>
                  <a:cs typeface="Arial"/>
                  <a:sym typeface="Arial"/>
                </a:rPr>
                <a:t>COLOSSUS 3.0  ·  IDEA SUBMISSION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22960" y="2740046"/>
            <a:ext cx="16596360" cy="4192679"/>
            <a:chOff x="0" y="0"/>
            <a:chExt cx="22128480" cy="5590239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22128480" cy="1463040"/>
              <a:chOff x="0" y="0"/>
              <a:chExt cx="22128480" cy="14630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2128480" cy="1463040"/>
              </a:xfrm>
              <a:custGeom>
                <a:avLst/>
                <a:gdLst/>
                <a:ahLst/>
                <a:cxnLst/>
                <a:rect l="l" t="t" r="r" b="b"/>
                <a:pathLst>
                  <a:path w="22128480" h="1463040">
                    <a:moveTo>
                      <a:pt x="0" y="0"/>
                    </a:moveTo>
                    <a:lnTo>
                      <a:pt x="22128480" y="0"/>
                    </a:lnTo>
                    <a:lnTo>
                      <a:pt x="22128480" y="1463040"/>
                    </a:lnTo>
                    <a:lnTo>
                      <a:pt x="0" y="146304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t="-244711" b="-244711"/>
                </a:stretch>
              </a:blip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0"/>
                <a:ext cx="22128480" cy="146304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6120"/>
                  </a:lnSpc>
                </a:pPr>
                <a:r>
                  <a:rPr lang="en-US" sz="5100">
                    <a:solidFill>
                      <a:srgbClr val="FFFFFF"/>
                    </a:solidFill>
                    <a:latin typeface="Barlow"/>
                    <a:ea typeface="Barlow"/>
                    <a:cs typeface="Barlow"/>
                    <a:sym typeface="Barlow"/>
                  </a:rPr>
                  <a:t>Idea / Solution</a:t>
                </a:r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457200" y="2339550"/>
              <a:ext cx="8608370" cy="469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78"/>
                </a:lnSpc>
              </a:pPr>
              <a:r>
                <a:rPr lang="en-US" sz="2315" spc="385">
                  <a:solidFill>
                    <a:srgbClr val="00E5FF"/>
                  </a:solidFill>
                  <a:latin typeface="Barlow"/>
                  <a:ea typeface="Barlow"/>
                  <a:cs typeface="Barlow"/>
                  <a:sym typeface="Barlow"/>
                </a:rPr>
                <a:t>01  </a:t>
              </a:r>
              <a:r>
                <a:rPr lang="en-US" sz="2315" spc="385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WHAT WE'RE BUILDING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7200" y="3720141"/>
              <a:ext cx="6117441" cy="469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78"/>
                </a:lnSpc>
              </a:pPr>
              <a:r>
                <a:rPr lang="en-US" sz="2315" spc="385">
                  <a:solidFill>
                    <a:srgbClr val="B026FF"/>
                  </a:solidFill>
                  <a:latin typeface="Barlow"/>
                  <a:ea typeface="Barlow"/>
                  <a:cs typeface="Barlow"/>
                  <a:sym typeface="Barlow"/>
                </a:rPr>
                <a:t>02  </a:t>
              </a:r>
              <a:r>
                <a:rPr lang="en-US" sz="2315" spc="385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HOW IT SOLVES IT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57200" y="5120339"/>
              <a:ext cx="8823232" cy="469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78"/>
                </a:lnSpc>
              </a:pPr>
              <a:r>
                <a:rPr lang="en-US" sz="2315" spc="385">
                  <a:solidFill>
                    <a:srgbClr val="FF7A18"/>
                  </a:solidFill>
                  <a:latin typeface="Barlow"/>
                  <a:ea typeface="Barlow"/>
                  <a:cs typeface="Barlow"/>
                  <a:sym typeface="Barlow"/>
                </a:rPr>
                <a:t>03</a:t>
              </a:r>
              <a:r>
                <a:rPr lang="en-US" sz="2315" spc="385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  CORE VALUE PROPOSTION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56302" y="437131"/>
            <a:ext cx="17117301" cy="2163535"/>
            <a:chOff x="0" y="0"/>
            <a:chExt cx="22823068" cy="288471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530006" cy="2519699"/>
            </a:xfrm>
            <a:custGeom>
              <a:avLst/>
              <a:gdLst/>
              <a:ahLst/>
              <a:cxnLst/>
              <a:rect l="l" t="t" r="r" b="b"/>
              <a:pathLst>
                <a:path w="2530006" h="2519699">
                  <a:moveTo>
                    <a:pt x="0" y="0"/>
                  </a:moveTo>
                  <a:lnTo>
                    <a:pt x="2530006" y="0"/>
                  </a:lnTo>
                  <a:lnTo>
                    <a:pt x="2530006" y="2519699"/>
                  </a:lnTo>
                  <a:lnTo>
                    <a:pt x="0" y="2519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04" b="-204"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20371937" y="175722"/>
              <a:ext cx="2451131" cy="2451131"/>
            </a:xfrm>
            <a:custGeom>
              <a:avLst/>
              <a:gdLst/>
              <a:ahLst/>
              <a:cxnLst/>
              <a:rect l="l" t="t" r="r" b="b"/>
              <a:pathLst>
                <a:path w="2451131" h="2451131">
                  <a:moveTo>
                    <a:pt x="0" y="0"/>
                  </a:moveTo>
                  <a:lnTo>
                    <a:pt x="2451131" y="0"/>
                  </a:lnTo>
                  <a:lnTo>
                    <a:pt x="2451131" y="2451131"/>
                  </a:lnTo>
                  <a:lnTo>
                    <a:pt x="0" y="2451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7863505" y="175722"/>
              <a:ext cx="6993093" cy="2708992"/>
            </a:xfrm>
            <a:custGeom>
              <a:avLst/>
              <a:gdLst/>
              <a:ahLst/>
              <a:cxnLst/>
              <a:rect l="l" t="t" r="r" b="b"/>
              <a:pathLst>
                <a:path w="6993093" h="2708992">
                  <a:moveTo>
                    <a:pt x="0" y="0"/>
                  </a:moveTo>
                  <a:lnTo>
                    <a:pt x="6993093" y="0"/>
                  </a:lnTo>
                  <a:lnTo>
                    <a:pt x="6993093" y="2708992"/>
                  </a:lnTo>
                  <a:lnTo>
                    <a:pt x="0" y="2708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95430" b="-96945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22960" y="9601200"/>
            <a:ext cx="8229600" cy="411480"/>
            <a:chOff x="0" y="0"/>
            <a:chExt cx="10972800" cy="5486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972800" cy="548640"/>
            </a:xfrm>
            <a:custGeom>
              <a:avLst/>
              <a:gdLst/>
              <a:ahLst/>
              <a:cxnLst/>
              <a:rect l="l" t="t" r="r" b="b"/>
              <a:pathLst>
                <a:path w="10972800" h="54864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1097280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spc="450">
                  <a:solidFill>
                    <a:srgbClr val="8E86A8"/>
                  </a:solidFill>
                  <a:latin typeface="Arial"/>
                  <a:ea typeface="Arial"/>
                  <a:cs typeface="Arial"/>
                  <a:sym typeface="Arial"/>
                </a:rPr>
                <a:t>COLOSSUS 3.0  ·  IDEA SUBMISSION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45820" y="2906976"/>
            <a:ext cx="16596360" cy="3195298"/>
            <a:chOff x="0" y="0"/>
            <a:chExt cx="22128480" cy="4260397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22128480" cy="1463040"/>
              <a:chOff x="0" y="0"/>
              <a:chExt cx="22128480" cy="14630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2128480" cy="1463040"/>
              </a:xfrm>
              <a:custGeom>
                <a:avLst/>
                <a:gdLst/>
                <a:ahLst/>
                <a:cxnLst/>
                <a:rect l="l" t="t" r="r" b="b"/>
                <a:pathLst>
                  <a:path w="22128480" h="1463040">
                    <a:moveTo>
                      <a:pt x="0" y="0"/>
                    </a:moveTo>
                    <a:lnTo>
                      <a:pt x="22128480" y="0"/>
                    </a:lnTo>
                    <a:lnTo>
                      <a:pt x="22128480" y="1463040"/>
                    </a:lnTo>
                    <a:lnTo>
                      <a:pt x="0" y="146304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t="-244711" b="-244711"/>
                </a:stretch>
              </a:blip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0"/>
                <a:ext cx="22128480" cy="146304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6120"/>
                  </a:lnSpc>
                </a:pPr>
                <a:r>
                  <a:rPr lang="en-US" sz="5100">
                    <a:solidFill>
                      <a:srgbClr val="FFFFFF"/>
                    </a:solidFill>
                    <a:latin typeface="Barlow"/>
                    <a:ea typeface="Barlow"/>
                    <a:cs typeface="Barlow"/>
                    <a:sym typeface="Barlow"/>
                  </a:rPr>
                  <a:t>How It Works</a:t>
                </a:r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274320" y="1732914"/>
              <a:ext cx="14122229" cy="469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79"/>
                </a:lnSpc>
              </a:pPr>
              <a:r>
                <a:rPr lang="en-US" sz="2316" spc="386">
                  <a:solidFill>
                    <a:srgbClr val="00E5FF"/>
                  </a:solidFill>
                  <a:latin typeface="Barlow"/>
                  <a:ea typeface="Barlow"/>
                  <a:cs typeface="Barlow"/>
                  <a:sym typeface="Barlow"/>
                </a:rPr>
                <a:t>01  </a:t>
              </a:r>
              <a:r>
                <a:rPr lang="en-US" sz="2316" spc="386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END-TO-END WORKFLOW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4320" y="2764861"/>
              <a:ext cx="14122229" cy="469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79"/>
                </a:lnSpc>
              </a:pPr>
              <a:r>
                <a:rPr lang="en-US" sz="2316" spc="386">
                  <a:solidFill>
                    <a:srgbClr val="FF2E93"/>
                  </a:solidFill>
                  <a:latin typeface="Barlow"/>
                  <a:ea typeface="Barlow"/>
                  <a:cs typeface="Barlow"/>
                  <a:sym typeface="Barlow"/>
                </a:rPr>
                <a:t>02  </a:t>
              </a:r>
              <a:r>
                <a:rPr lang="en-US" sz="2316" spc="386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USER JOURNEY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4320" y="3790497"/>
              <a:ext cx="14122229" cy="469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79"/>
                </a:lnSpc>
              </a:pPr>
              <a:r>
                <a:rPr lang="en-US" sz="2316" spc="386">
                  <a:solidFill>
                    <a:srgbClr val="B026FF"/>
                  </a:solidFill>
                  <a:latin typeface="Barlow"/>
                  <a:ea typeface="Barlow"/>
                  <a:cs typeface="Barlow"/>
                  <a:sym typeface="Barlow"/>
                </a:rPr>
                <a:t>03  </a:t>
              </a:r>
              <a:r>
                <a:rPr lang="en-US" sz="2316" spc="386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TECHNOLOGY STACK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56302" y="437131"/>
            <a:ext cx="17117301" cy="2163535"/>
            <a:chOff x="0" y="0"/>
            <a:chExt cx="22823068" cy="288471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530006" cy="2519699"/>
            </a:xfrm>
            <a:custGeom>
              <a:avLst/>
              <a:gdLst/>
              <a:ahLst/>
              <a:cxnLst/>
              <a:rect l="l" t="t" r="r" b="b"/>
              <a:pathLst>
                <a:path w="2530006" h="2519699">
                  <a:moveTo>
                    <a:pt x="0" y="0"/>
                  </a:moveTo>
                  <a:lnTo>
                    <a:pt x="2530006" y="0"/>
                  </a:lnTo>
                  <a:lnTo>
                    <a:pt x="2530006" y="2519699"/>
                  </a:lnTo>
                  <a:lnTo>
                    <a:pt x="0" y="2519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04" b="-204"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20371937" y="175722"/>
              <a:ext cx="2451131" cy="2451131"/>
            </a:xfrm>
            <a:custGeom>
              <a:avLst/>
              <a:gdLst/>
              <a:ahLst/>
              <a:cxnLst/>
              <a:rect l="l" t="t" r="r" b="b"/>
              <a:pathLst>
                <a:path w="2451131" h="2451131">
                  <a:moveTo>
                    <a:pt x="0" y="0"/>
                  </a:moveTo>
                  <a:lnTo>
                    <a:pt x="2451131" y="0"/>
                  </a:lnTo>
                  <a:lnTo>
                    <a:pt x="2451131" y="2451131"/>
                  </a:lnTo>
                  <a:lnTo>
                    <a:pt x="0" y="2451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7863505" y="175722"/>
              <a:ext cx="6993093" cy="2708992"/>
            </a:xfrm>
            <a:custGeom>
              <a:avLst/>
              <a:gdLst/>
              <a:ahLst/>
              <a:cxnLst/>
              <a:rect l="l" t="t" r="r" b="b"/>
              <a:pathLst>
                <a:path w="6993093" h="2708992">
                  <a:moveTo>
                    <a:pt x="0" y="0"/>
                  </a:moveTo>
                  <a:lnTo>
                    <a:pt x="6993093" y="0"/>
                  </a:lnTo>
                  <a:lnTo>
                    <a:pt x="6993093" y="2708992"/>
                  </a:lnTo>
                  <a:lnTo>
                    <a:pt x="0" y="2708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95430" b="-96945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22960" y="9601200"/>
            <a:ext cx="8229600" cy="411480"/>
            <a:chOff x="0" y="0"/>
            <a:chExt cx="10972800" cy="5486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972800" cy="548640"/>
            </a:xfrm>
            <a:custGeom>
              <a:avLst/>
              <a:gdLst/>
              <a:ahLst/>
              <a:cxnLst/>
              <a:rect l="l" t="t" r="r" b="b"/>
              <a:pathLst>
                <a:path w="10972800" h="54864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1097280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spc="450">
                  <a:solidFill>
                    <a:srgbClr val="8E86A8"/>
                  </a:solidFill>
                  <a:latin typeface="Arial"/>
                  <a:ea typeface="Arial"/>
                  <a:cs typeface="Arial"/>
                  <a:sym typeface="Arial"/>
                </a:rPr>
                <a:t>COLOSSUS 3.0  ·  IDEA SUBMISSION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45820" y="2898262"/>
            <a:ext cx="16596360" cy="8915400"/>
            <a:chOff x="0" y="0"/>
            <a:chExt cx="22128480" cy="1188720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22128480" cy="1463040"/>
              <a:chOff x="0" y="0"/>
              <a:chExt cx="22128480" cy="14630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2128480" cy="1463040"/>
              </a:xfrm>
              <a:custGeom>
                <a:avLst/>
                <a:gdLst/>
                <a:ahLst/>
                <a:cxnLst/>
                <a:rect l="l" t="t" r="r" b="b"/>
                <a:pathLst>
                  <a:path w="22128480" h="1463040">
                    <a:moveTo>
                      <a:pt x="0" y="0"/>
                    </a:moveTo>
                    <a:lnTo>
                      <a:pt x="22128480" y="0"/>
                    </a:lnTo>
                    <a:lnTo>
                      <a:pt x="22128480" y="1463040"/>
                    </a:lnTo>
                    <a:lnTo>
                      <a:pt x="0" y="146304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t="-244711" b="-244711"/>
                </a:stretch>
              </a:blip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0"/>
                <a:ext cx="22128480" cy="146304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6120"/>
                  </a:lnSpc>
                </a:pPr>
                <a:r>
                  <a:rPr lang="en-US" sz="5100" b="1">
                    <a:solidFill>
                      <a:srgbClr val="FFFFFF"/>
                    </a:solidFill>
                    <a:latin typeface="Barlow Bold"/>
                    <a:ea typeface="Barlow Bold"/>
                    <a:cs typeface="Barlow Bold"/>
                    <a:sym typeface="Barlow Bold"/>
                  </a:rPr>
                  <a:t>What Makes Us Different?</a:t>
                </a:r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20787360" y="11582400"/>
              <a:ext cx="1274064" cy="304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FF2E93"/>
                  </a:solidFill>
                  <a:latin typeface="Barlow"/>
                  <a:ea typeface="Barlow"/>
                  <a:cs typeface="Barlow"/>
                  <a:sym typeface="Barlow"/>
                </a:rPr>
                <a:t>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4320" y="3256507"/>
              <a:ext cx="8011817" cy="469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83"/>
                </a:lnSpc>
              </a:pPr>
              <a:r>
                <a:rPr lang="en-US" sz="2319" b="1" spc="386">
                  <a:solidFill>
                    <a:srgbClr val="FF2E93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02</a:t>
              </a:r>
              <a:r>
                <a:rPr lang="en-US" sz="2319" b="1" spc="386">
                  <a:solidFill>
                    <a:srgbClr val="A59DBF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  </a:t>
              </a:r>
              <a:r>
                <a:rPr lang="en-US" sz="2319" b="1" spc="386">
                  <a:solidFill>
                    <a:srgbClr val="FFFFFF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EXISTING APPROACH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4320" y="2025934"/>
              <a:ext cx="8011817" cy="469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83"/>
                </a:lnSpc>
              </a:pPr>
              <a:r>
                <a:rPr lang="en-US" sz="2319" b="1" spc="386">
                  <a:solidFill>
                    <a:srgbClr val="FF7A18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01</a:t>
              </a:r>
              <a:r>
                <a:rPr lang="en-US" sz="2319" b="1" spc="386">
                  <a:solidFill>
                    <a:srgbClr val="A59DBF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  </a:t>
              </a:r>
              <a:r>
                <a:rPr lang="en-US" sz="2319" b="1" spc="386">
                  <a:solidFill>
                    <a:srgbClr val="FFFFFF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CORE FEATURES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74320" y="4522232"/>
              <a:ext cx="8011817" cy="469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83"/>
                </a:lnSpc>
              </a:pPr>
              <a:r>
                <a:rPr lang="en-US" sz="2319" b="1" spc="386">
                  <a:solidFill>
                    <a:srgbClr val="8E86A8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03</a:t>
              </a:r>
              <a:r>
                <a:rPr lang="en-US" sz="2319" b="1" spc="386">
                  <a:solidFill>
                    <a:srgbClr val="FFFFFF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  OUR INNOVATION / USP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56302" y="437131"/>
            <a:ext cx="17117301" cy="2163535"/>
            <a:chOff x="0" y="0"/>
            <a:chExt cx="22823068" cy="288471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530006" cy="2519699"/>
            </a:xfrm>
            <a:custGeom>
              <a:avLst/>
              <a:gdLst/>
              <a:ahLst/>
              <a:cxnLst/>
              <a:rect l="l" t="t" r="r" b="b"/>
              <a:pathLst>
                <a:path w="2530006" h="2519699">
                  <a:moveTo>
                    <a:pt x="0" y="0"/>
                  </a:moveTo>
                  <a:lnTo>
                    <a:pt x="2530006" y="0"/>
                  </a:lnTo>
                  <a:lnTo>
                    <a:pt x="2530006" y="2519699"/>
                  </a:lnTo>
                  <a:lnTo>
                    <a:pt x="0" y="2519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04" b="-204"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20371937" y="175722"/>
              <a:ext cx="2451131" cy="2451131"/>
            </a:xfrm>
            <a:custGeom>
              <a:avLst/>
              <a:gdLst/>
              <a:ahLst/>
              <a:cxnLst/>
              <a:rect l="l" t="t" r="r" b="b"/>
              <a:pathLst>
                <a:path w="2451131" h="2451131">
                  <a:moveTo>
                    <a:pt x="0" y="0"/>
                  </a:moveTo>
                  <a:lnTo>
                    <a:pt x="2451131" y="0"/>
                  </a:lnTo>
                  <a:lnTo>
                    <a:pt x="2451131" y="2451131"/>
                  </a:lnTo>
                  <a:lnTo>
                    <a:pt x="0" y="2451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7863505" y="175722"/>
              <a:ext cx="6993093" cy="2708992"/>
            </a:xfrm>
            <a:custGeom>
              <a:avLst/>
              <a:gdLst/>
              <a:ahLst/>
              <a:cxnLst/>
              <a:rect l="l" t="t" r="r" b="b"/>
              <a:pathLst>
                <a:path w="6993093" h="2708992">
                  <a:moveTo>
                    <a:pt x="0" y="0"/>
                  </a:moveTo>
                  <a:lnTo>
                    <a:pt x="6993093" y="0"/>
                  </a:lnTo>
                  <a:lnTo>
                    <a:pt x="6993093" y="2708992"/>
                  </a:lnTo>
                  <a:lnTo>
                    <a:pt x="0" y="2708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95430" b="-96945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22960" y="9601200"/>
            <a:ext cx="8229600" cy="411480"/>
            <a:chOff x="0" y="0"/>
            <a:chExt cx="10972800" cy="5486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972800" cy="548640"/>
            </a:xfrm>
            <a:custGeom>
              <a:avLst/>
              <a:gdLst/>
              <a:ahLst/>
              <a:cxnLst/>
              <a:rect l="l" t="t" r="r" b="b"/>
              <a:pathLst>
                <a:path w="10972800" h="54864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1097280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spc="450">
                  <a:solidFill>
                    <a:srgbClr val="8E86A8"/>
                  </a:solidFill>
                  <a:latin typeface="Arial"/>
                  <a:ea typeface="Arial"/>
                  <a:cs typeface="Arial"/>
                  <a:sym typeface="Arial"/>
                </a:rPr>
                <a:t>COLOSSUS 3.0  ·  IDEA SUBMISSION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22960" y="2976429"/>
            <a:ext cx="16596360" cy="8936883"/>
            <a:chOff x="0" y="0"/>
            <a:chExt cx="22128480" cy="11915844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22128480" cy="1463040"/>
              <a:chOff x="0" y="0"/>
              <a:chExt cx="22128480" cy="14630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2128480" cy="1463040"/>
              </a:xfrm>
              <a:custGeom>
                <a:avLst/>
                <a:gdLst/>
                <a:ahLst/>
                <a:cxnLst/>
                <a:rect l="l" t="t" r="r" b="b"/>
                <a:pathLst>
                  <a:path w="22128480" h="1463040">
                    <a:moveTo>
                      <a:pt x="0" y="0"/>
                    </a:moveTo>
                    <a:lnTo>
                      <a:pt x="22128480" y="0"/>
                    </a:lnTo>
                    <a:lnTo>
                      <a:pt x="22128480" y="1463040"/>
                    </a:lnTo>
                    <a:lnTo>
                      <a:pt x="0" y="146304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t="-244711" b="-244711"/>
                </a:stretch>
              </a:blip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0"/>
                <a:ext cx="22128480" cy="146304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6120"/>
                  </a:lnSpc>
                </a:pPr>
                <a:r>
                  <a:rPr lang="en-US" sz="5100">
                    <a:solidFill>
                      <a:srgbClr val="FFFFFF"/>
                    </a:solidFill>
                    <a:latin typeface="Barlow"/>
                    <a:ea typeface="Barlow"/>
                    <a:cs typeface="Barlow"/>
                    <a:sym typeface="Barlow"/>
                  </a:rPr>
                  <a:t>Impact &amp; Execution</a:t>
                </a:r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20787360" y="11611044"/>
              <a:ext cx="1274064" cy="304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FF2E93"/>
                  </a:solidFill>
                  <a:latin typeface="Barlow"/>
                  <a:ea typeface="Barlow"/>
                  <a:cs typeface="Barlow"/>
                  <a:sym typeface="Barlow"/>
                </a:rPr>
                <a:t>6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4320" y="3169618"/>
              <a:ext cx="9207039" cy="469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79"/>
                </a:lnSpc>
              </a:pPr>
              <a:r>
                <a:rPr lang="en-US" sz="2315" spc="385">
                  <a:solidFill>
                    <a:srgbClr val="FF7A18"/>
                  </a:solidFill>
                  <a:latin typeface="Barlow"/>
                  <a:ea typeface="Barlow"/>
                  <a:cs typeface="Barlow"/>
                  <a:sym typeface="Barlow"/>
                </a:rPr>
                <a:t>02</a:t>
              </a:r>
              <a:r>
                <a:rPr lang="en-US" sz="2315" spc="385">
                  <a:solidFill>
                    <a:srgbClr val="00E5FF"/>
                  </a:solidFill>
                  <a:latin typeface="Barlow"/>
                  <a:ea typeface="Barlow"/>
                  <a:cs typeface="Barlow"/>
                  <a:sym typeface="Barlow"/>
                </a:rPr>
                <a:t>  </a:t>
              </a:r>
              <a:r>
                <a:rPr lang="en-US" sz="2315" spc="385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BENEFICIARIES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4320" y="4392937"/>
              <a:ext cx="9207039" cy="469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79"/>
                </a:lnSpc>
              </a:pPr>
              <a:r>
                <a:rPr lang="en-US" sz="2315" spc="385">
                  <a:solidFill>
                    <a:srgbClr val="B026FF"/>
                  </a:solidFill>
                  <a:latin typeface="Barlow"/>
                  <a:ea typeface="Barlow"/>
                  <a:cs typeface="Barlow"/>
                  <a:sym typeface="Barlow"/>
                </a:rPr>
                <a:t>03  </a:t>
              </a:r>
              <a:r>
                <a:rPr lang="en-US" sz="2315" spc="385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SCALABILITY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74320" y="5596936"/>
              <a:ext cx="11048447" cy="469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79"/>
                </a:lnSpc>
              </a:pPr>
              <a:r>
                <a:rPr lang="en-US" sz="2315" spc="385">
                  <a:solidFill>
                    <a:srgbClr val="FF2E93"/>
                  </a:solidFill>
                  <a:latin typeface="Barlow"/>
                  <a:ea typeface="Barlow"/>
                  <a:cs typeface="Barlow"/>
                  <a:sym typeface="Barlow"/>
                </a:rPr>
                <a:t>04  </a:t>
              </a:r>
              <a:r>
                <a:rPr lang="en-US" sz="2315" spc="385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IMPLEMENTATION ROADMAP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74320" y="1936750"/>
              <a:ext cx="9207039" cy="469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79"/>
                </a:lnSpc>
              </a:pPr>
              <a:r>
                <a:rPr lang="en-US" sz="2315" spc="385">
                  <a:solidFill>
                    <a:srgbClr val="00E5FF"/>
                  </a:solidFill>
                  <a:latin typeface="Barlow"/>
                  <a:ea typeface="Barlow"/>
                  <a:cs typeface="Barlow"/>
                  <a:sym typeface="Barlow"/>
                </a:rPr>
                <a:t>01  </a:t>
              </a:r>
              <a:r>
                <a:rPr lang="en-US" sz="2315" spc="385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EXPECTED IMPACT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56302" y="437131"/>
            <a:ext cx="17117301" cy="2163535"/>
            <a:chOff x="0" y="0"/>
            <a:chExt cx="22823068" cy="288471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530006" cy="2519699"/>
            </a:xfrm>
            <a:custGeom>
              <a:avLst/>
              <a:gdLst/>
              <a:ahLst/>
              <a:cxnLst/>
              <a:rect l="l" t="t" r="r" b="b"/>
              <a:pathLst>
                <a:path w="2530006" h="2519699">
                  <a:moveTo>
                    <a:pt x="0" y="0"/>
                  </a:moveTo>
                  <a:lnTo>
                    <a:pt x="2530006" y="0"/>
                  </a:lnTo>
                  <a:lnTo>
                    <a:pt x="2530006" y="2519699"/>
                  </a:lnTo>
                  <a:lnTo>
                    <a:pt x="0" y="2519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04" b="-204"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20371937" y="175722"/>
              <a:ext cx="2451131" cy="2451131"/>
            </a:xfrm>
            <a:custGeom>
              <a:avLst/>
              <a:gdLst/>
              <a:ahLst/>
              <a:cxnLst/>
              <a:rect l="l" t="t" r="r" b="b"/>
              <a:pathLst>
                <a:path w="2451131" h="2451131">
                  <a:moveTo>
                    <a:pt x="0" y="0"/>
                  </a:moveTo>
                  <a:lnTo>
                    <a:pt x="2451131" y="0"/>
                  </a:lnTo>
                  <a:lnTo>
                    <a:pt x="2451131" y="2451131"/>
                  </a:lnTo>
                  <a:lnTo>
                    <a:pt x="0" y="2451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7863505" y="175722"/>
              <a:ext cx="6993093" cy="2708992"/>
            </a:xfrm>
            <a:custGeom>
              <a:avLst/>
              <a:gdLst/>
              <a:ahLst/>
              <a:cxnLst/>
              <a:rect l="l" t="t" r="r" b="b"/>
              <a:pathLst>
                <a:path w="6993093" h="2708992">
                  <a:moveTo>
                    <a:pt x="0" y="0"/>
                  </a:moveTo>
                  <a:lnTo>
                    <a:pt x="6993093" y="0"/>
                  </a:lnTo>
                  <a:lnTo>
                    <a:pt x="6993093" y="2708992"/>
                  </a:lnTo>
                  <a:lnTo>
                    <a:pt x="0" y="2708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95430" b="-96945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22960" y="9601200"/>
            <a:ext cx="8229600" cy="411480"/>
            <a:chOff x="0" y="0"/>
            <a:chExt cx="10972800" cy="5486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972800" cy="548640"/>
            </a:xfrm>
            <a:custGeom>
              <a:avLst/>
              <a:gdLst/>
              <a:ahLst/>
              <a:cxnLst/>
              <a:rect l="l" t="t" r="r" b="b"/>
              <a:pathLst>
                <a:path w="10972800" h="54864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1097280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spc="4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COLOSSUS 3.0  ·  IDEA SUBMISSION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28864" y="3561230"/>
            <a:ext cx="14167743" cy="2730094"/>
            <a:chOff x="0" y="0"/>
            <a:chExt cx="16459200" cy="317165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459200" cy="3171652"/>
            </a:xfrm>
            <a:custGeom>
              <a:avLst/>
              <a:gdLst/>
              <a:ahLst/>
              <a:cxnLst/>
              <a:rect l="l" t="t" r="r" b="b"/>
              <a:pathLst>
                <a:path w="16459200" h="3171652">
                  <a:moveTo>
                    <a:pt x="0" y="0"/>
                  </a:moveTo>
                  <a:lnTo>
                    <a:pt x="16459200" y="0"/>
                  </a:lnTo>
                  <a:lnTo>
                    <a:pt x="16459200" y="3171652"/>
                  </a:lnTo>
                  <a:lnTo>
                    <a:pt x="0" y="31716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7871" b="-44362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16459200" cy="31716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2960"/>
                </a:lnSpc>
              </a:pPr>
              <a:r>
                <a:rPr lang="en-US" sz="10800" b="1">
                  <a:solidFill>
                    <a:srgbClr val="FFFFFF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Thank You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413480" y="9627870"/>
            <a:ext cx="955548" cy="339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FF2E93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</a:p>
        </p:txBody>
      </p:sp>
      <p:sp>
        <p:nvSpPr>
          <p:cNvPr id="10" name="Freeform 10"/>
          <p:cNvSpPr/>
          <p:nvPr/>
        </p:nvSpPr>
        <p:spPr>
          <a:xfrm>
            <a:off x="556302" y="437131"/>
            <a:ext cx="1897504" cy="1889774"/>
          </a:xfrm>
          <a:custGeom>
            <a:avLst/>
            <a:gdLst/>
            <a:ahLst/>
            <a:cxnLst/>
            <a:rect l="l" t="t" r="r" b="b"/>
            <a:pathLst>
              <a:path w="1897504" h="1889774">
                <a:moveTo>
                  <a:pt x="0" y="0"/>
                </a:moveTo>
                <a:lnTo>
                  <a:pt x="1897504" y="0"/>
                </a:lnTo>
                <a:lnTo>
                  <a:pt x="1897504" y="1889775"/>
                </a:lnTo>
                <a:lnTo>
                  <a:pt x="0" y="18897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04" b="-204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835255" y="568923"/>
            <a:ext cx="1838348" cy="1838348"/>
          </a:xfrm>
          <a:custGeom>
            <a:avLst/>
            <a:gdLst/>
            <a:ahLst/>
            <a:cxnLst/>
            <a:rect l="l" t="t" r="r" b="b"/>
            <a:pathLst>
              <a:path w="1838348" h="1838348">
                <a:moveTo>
                  <a:pt x="0" y="0"/>
                </a:moveTo>
                <a:lnTo>
                  <a:pt x="1838348" y="0"/>
                </a:lnTo>
                <a:lnTo>
                  <a:pt x="1838348" y="1838348"/>
                </a:lnTo>
                <a:lnTo>
                  <a:pt x="0" y="18383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007438" y="568923"/>
            <a:ext cx="5810595" cy="2250914"/>
          </a:xfrm>
          <a:custGeom>
            <a:avLst/>
            <a:gdLst/>
            <a:ahLst/>
            <a:cxnLst/>
            <a:rect l="l" t="t" r="r" b="b"/>
            <a:pathLst>
              <a:path w="5810595" h="2250914">
                <a:moveTo>
                  <a:pt x="0" y="0"/>
                </a:moveTo>
                <a:lnTo>
                  <a:pt x="5810595" y="0"/>
                </a:lnTo>
                <a:lnTo>
                  <a:pt x="5810595" y="2250914"/>
                </a:lnTo>
                <a:lnTo>
                  <a:pt x="0" y="22509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95430" b="-96945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COLOSSUS_3.0_Idea_Submission_Template.pptx</dc:title>
  <cp:lastModifiedBy>Rahul O P</cp:lastModifiedBy>
  <cp:revision>2</cp:revision>
  <dcterms:created xsi:type="dcterms:W3CDTF">2006-08-16T00:00:00Z</dcterms:created>
  <dcterms:modified xsi:type="dcterms:W3CDTF">2026-10-07T20:55:37Z</dcterms:modified>
  <dc:identifier>DAHXW9TDjqs</dc:identifier>
</cp:coreProperties>
</file>